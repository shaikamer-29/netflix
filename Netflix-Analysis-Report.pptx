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icolage Grotesque Bold"/>
      <p:regular r:id="rId201314"/>
    </p:embeddedFont>
    <p:embeddedFont>
      <p:font typeface="Bricolage Grotesque ExtraBold"/>
      <p:regular r:id="rId201315"/>
    </p:embeddedFont>
    <p:embeddedFont>
      <p:font typeface="Bricolage Grotesque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  <p:embeddedFont>
      <p:font typeface="Montserrat Extra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8838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 Analysis Report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6249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exploration of Netflix's content library using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queries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Excel visualizations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uncovering trends in movies, TV shows, genres, and global distribution.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282380"/>
            <a:ext cx="2167379" cy="287139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339034"/>
            <a:ext cx="25501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+ EXCEL + POWER BI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Project Overview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09092"/>
            <a:ext cx="6936011" cy="393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2594273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Objective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1333" y="2949575"/>
            <a:ext cx="3565138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the Netflix dataset to uncover patterns in content type, genre, release trends, and country distribution.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71333" y="3719016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Tools Used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5509419"/>
            <a:ext cx="3542914" cy="825004"/>
          </a:xfrm>
          <a:prstGeom prst="roundRect">
            <a:avLst>
              <a:gd name="adj" fmla="val 7668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812085" y="5660033"/>
            <a:ext cx="32416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2085" y="5967313"/>
            <a:ext cx="32416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Querying &amp; analysis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4341" y="5509419"/>
            <a:ext cx="3542914" cy="825004"/>
          </a:xfrm>
          <a:prstGeom prst="roundRect">
            <a:avLst>
              <a:gd name="adj" fmla="val 7668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4474951" y="5660033"/>
            <a:ext cx="32416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Excel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474951" y="5967313"/>
            <a:ext cx="32416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 &amp; data validation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87207" y="5509419"/>
            <a:ext cx="3543013" cy="825004"/>
          </a:xfrm>
          <a:prstGeom prst="roundRect">
            <a:avLst>
              <a:gd name="adj" fmla="val 7668"/>
            </a:avLst>
          </a:prstGeom>
          <a:solidFill>
            <a:srgbClr val="282D5E"/>
          </a:solidFill>
          <a:ln/>
        </p:spPr>
      </p:sp>
      <p:sp>
        <p:nvSpPr>
          <p:cNvPr id="14" name="Text 11"/>
          <p:cNvSpPr/>
          <p:nvPr/>
        </p:nvSpPr>
        <p:spPr>
          <a:xfrm>
            <a:off x="8137818" y="5660033"/>
            <a:ext cx="324179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Power BI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137818" y="5967313"/>
            <a:ext cx="324179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Visualization dashboards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 Cleaning in Excel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Duplicate Removal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Removed duplicates and standardized values (e.g., "Movie" vs "TV Show").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Date Formatting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Converted release dates into proper year format for consistent analysis.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Pivot Tables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pivot tables for type, genre, and country breakdowns.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05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 Insights — Core Queries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2367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Row Count &amp; Type Breakdown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631579"/>
            <a:ext cx="5203794" cy="680442"/>
          </a:xfrm>
          <a:prstGeom prst="roundRect">
            <a:avLst>
              <a:gd name="adj" fmla="val 11667"/>
            </a:avLst>
          </a:prstGeom>
          <a:solidFill>
            <a:srgbClr val="161B4C"/>
          </a:solidFill>
          <a:ln/>
        </p:spPr>
      </p:sp>
      <p:sp>
        <p:nvSpPr>
          <p:cNvPr id="5" name="Text 3"/>
          <p:cNvSpPr/>
          <p:nvPr/>
        </p:nvSpPr>
        <p:spPr>
          <a:xfrm>
            <a:off x="888283" y="2820591"/>
            <a:ext cx="53597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netflix_titles;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524647"/>
            <a:ext cx="5203794" cy="1285280"/>
          </a:xfrm>
          <a:prstGeom prst="roundRect">
            <a:avLst>
              <a:gd name="adj" fmla="val 6177"/>
            </a:avLst>
          </a:prstGeom>
          <a:solidFill>
            <a:srgbClr val="161B4C"/>
          </a:solidFill>
          <a:ln/>
        </p:spPr>
      </p:sp>
      <p:sp>
        <p:nvSpPr>
          <p:cNvPr id="7" name="Text 5"/>
          <p:cNvSpPr/>
          <p:nvPr/>
        </p:nvSpPr>
        <p:spPr>
          <a:xfrm>
            <a:off x="888283" y="3713659"/>
            <a:ext cx="47501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type, COUNT(*)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type;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502255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queries reveal the total catalog size and the split between Movies and TV Shows.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12367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Top Genres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332776" y="2631579"/>
            <a:ext cx="5203794" cy="1587698"/>
          </a:xfrm>
          <a:prstGeom prst="roundRect">
            <a:avLst>
              <a:gd name="adj" fmla="val 5000"/>
            </a:avLst>
          </a:prstGeom>
          <a:solidFill>
            <a:srgbClr val="161B4C"/>
          </a:solidFill>
          <a:ln/>
        </p:spPr>
      </p:sp>
      <p:sp>
        <p:nvSpPr>
          <p:cNvPr id="11" name="Text 9"/>
          <p:cNvSpPr/>
          <p:nvPr/>
        </p:nvSpPr>
        <p:spPr>
          <a:xfrm>
            <a:off x="6559584" y="2820591"/>
            <a:ext cx="47501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listed_in, COUNT(*)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listed_in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COUNT(*) DESC;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443190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Groups titles by genre and ranks them by frequency to identify the most common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58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 Insights — Trends &amp; Distribution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189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Yearly Release Trends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926854"/>
            <a:ext cx="5203794" cy="1587698"/>
          </a:xfrm>
          <a:prstGeom prst="roundRect">
            <a:avLst>
              <a:gd name="adj" fmla="val 5000"/>
            </a:avLst>
          </a:prstGeom>
          <a:solidFill>
            <a:srgbClr val="161B4C"/>
          </a:solidFill>
          <a:ln/>
        </p:spPr>
      </p:sp>
      <p:sp>
        <p:nvSpPr>
          <p:cNvPr id="5" name="Text 3"/>
          <p:cNvSpPr/>
          <p:nvPr/>
        </p:nvSpPr>
        <p:spPr>
          <a:xfrm>
            <a:off x="888283" y="3115866"/>
            <a:ext cx="47501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release_year, COUNT(*)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release_year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release_year;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72717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Tracks content volume over time to reveal growth patterns in Netflix's catalog.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4189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Country Distribution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332776" y="2926854"/>
            <a:ext cx="5203794" cy="1587698"/>
          </a:xfrm>
          <a:prstGeom prst="roundRect">
            <a:avLst>
              <a:gd name="adj" fmla="val 5000"/>
            </a:avLst>
          </a:prstGeom>
          <a:solidFill>
            <a:srgbClr val="161B4C"/>
          </a:solidFill>
          <a:ln/>
        </p:spPr>
      </p:sp>
      <p:sp>
        <p:nvSpPr>
          <p:cNvPr id="9" name="Text 7"/>
          <p:cNvSpPr/>
          <p:nvPr/>
        </p:nvSpPr>
        <p:spPr>
          <a:xfrm>
            <a:off x="6559584" y="3115866"/>
            <a:ext cx="47501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country, COUNT(*)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country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COUNT(*) DESC;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72717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Ranks countries by number of titles to highlight regional content dominance.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71202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Power BI Visualizations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71389"/>
            <a:ext cx="318881" cy="3188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758454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Bar Chart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61475" y="2088257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Movies vs TV Shows — approx. 5.5K movies vs 2.5K TV shows.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92487"/>
            <a:ext cx="318881" cy="3188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3079552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Line Chart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661475" y="3409355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Releases per year — sharp increase from 2016, peaking in 2020.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13584"/>
            <a:ext cx="318881" cy="3188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400649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Pie Chart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661475" y="4730452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10 countries by content share — USA leads at 31.1%.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34682"/>
            <a:ext cx="318881" cy="3188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721747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Treemap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661475" y="6051550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Distribution of seasons across countries.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27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Dashboard Deep Dive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2627"/>
            <a:ext cx="6903269" cy="3166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935857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Top 10 Countries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420144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United States (31.1%), India (10.7%), United Kingdom (9.4%), South Korea (7.1%), Canada (5.8%), Spain (4.5%), France (3.2%), Mexico (2.9%), Italy (2.6%), Egypt (2.3%).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412124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Most Release Year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4605536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Releases surged from 2016 onward, peaking in 2020. The dashboard also tracks 75 releases from 2006–2020 in the sample view.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22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Findings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20938"/>
            <a:ext cx="3496877" cy="1397893"/>
          </a:xfrm>
          <a:prstGeom prst="roundRect">
            <a:avLst>
              <a:gd name="adj" fmla="val 5679"/>
            </a:avLst>
          </a:prstGeom>
          <a:solidFill>
            <a:srgbClr val="282D5E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609949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🎬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Movies Dominate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Netflix catalog has significantly more movies than TV shows.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420938"/>
            <a:ext cx="3496877" cy="1397893"/>
          </a:xfrm>
          <a:prstGeom prst="roundRect">
            <a:avLst>
              <a:gd name="adj" fmla="val 5679"/>
            </a:avLst>
          </a:prstGeom>
          <a:solidFill>
            <a:srgbClr val="282D5E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2609949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🌎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USA &amp; India Lead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(31.1%) and India (10.7%) dominate in content production.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420938"/>
            <a:ext cx="3496877" cy="1397893"/>
          </a:xfrm>
          <a:prstGeom prst="roundRect">
            <a:avLst>
              <a:gd name="adj" fmla="val 5679"/>
            </a:avLst>
          </a:prstGeom>
          <a:solidFill>
            <a:srgbClr val="282D5E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2609949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🎭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Drama &amp; Comedy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most frequent genres across the entire catalog.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007842"/>
            <a:ext cx="5339820" cy="1397893"/>
          </a:xfrm>
          <a:prstGeom prst="roundRect">
            <a:avLst>
              <a:gd name="adj" fmla="val 5679"/>
            </a:avLst>
          </a:prstGeom>
          <a:solidFill>
            <a:srgbClr val="282D5E"/>
          </a:solidFill>
          <a:ln/>
        </p:spPr>
      </p:sp>
      <p:sp>
        <p:nvSpPr>
          <p:cNvPr id="13" name="Text 11"/>
          <p:cNvSpPr/>
          <p:nvPr/>
        </p:nvSpPr>
        <p:spPr>
          <a:xfrm>
            <a:off x="850482" y="4196854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Sharp Growth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461188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releases increased sharply in recent years, peaking in 2020.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007842"/>
            <a:ext cx="5339820" cy="1397893"/>
          </a:xfrm>
          <a:prstGeom prst="roundRect">
            <a:avLst>
              <a:gd name="adj" fmla="val 5679"/>
            </a:avLst>
          </a:prstGeom>
          <a:solidFill>
            <a:srgbClr val="282D5E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08" y="4196854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Strong Partnerships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79308" y="461188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Certain directors and actors appear repeatedly, showing strong partnerships.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19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 Query Reference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550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Filtering &amp; Exploration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262981"/>
            <a:ext cx="5203794" cy="982861"/>
          </a:xfrm>
          <a:prstGeom prst="roundRect">
            <a:avLst>
              <a:gd name="adj" fmla="val 8077"/>
            </a:avLst>
          </a:prstGeom>
          <a:solidFill>
            <a:srgbClr val="161B4C"/>
          </a:solidFill>
          <a:ln/>
        </p:spPr>
      </p:sp>
      <p:sp>
        <p:nvSpPr>
          <p:cNvPr id="5" name="Text 3"/>
          <p:cNvSpPr/>
          <p:nvPr/>
        </p:nvSpPr>
        <p:spPr>
          <a:xfrm>
            <a:off x="888283" y="2451993"/>
            <a:ext cx="47501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release_year = 2020;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458468"/>
            <a:ext cx="5203794" cy="1285280"/>
          </a:xfrm>
          <a:prstGeom prst="roundRect">
            <a:avLst>
              <a:gd name="adj" fmla="val 6177"/>
            </a:avLst>
          </a:prstGeom>
          <a:solidFill>
            <a:srgbClr val="161B4C"/>
          </a:solidFill>
          <a:ln/>
        </p:spPr>
      </p:sp>
      <p:sp>
        <p:nvSpPr>
          <p:cNvPr id="7" name="Text 5"/>
          <p:cNvSpPr/>
          <p:nvPr/>
        </p:nvSpPr>
        <p:spPr>
          <a:xfrm>
            <a:off x="888283" y="3647480"/>
            <a:ext cx="47501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DISTINCT(country)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country IS NOT NULL;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956373"/>
            <a:ext cx="5203794" cy="982861"/>
          </a:xfrm>
          <a:prstGeom prst="roundRect">
            <a:avLst>
              <a:gd name="adj" fmla="val 8077"/>
            </a:avLst>
          </a:prstGeom>
          <a:solidFill>
            <a:srgbClr val="161B4C"/>
          </a:solidFill>
          <a:ln/>
        </p:spPr>
      </p:sp>
      <p:sp>
        <p:nvSpPr>
          <p:cNvPr id="9" name="Text 7"/>
          <p:cNvSpPr/>
          <p:nvPr/>
        </p:nvSpPr>
        <p:spPr>
          <a:xfrm>
            <a:off x="888283" y="5145385"/>
            <a:ext cx="47501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rating = 'PG-13';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17550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Aggregation &amp; Ranking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332776" y="2262981"/>
            <a:ext cx="5203794" cy="2192536"/>
          </a:xfrm>
          <a:prstGeom prst="roundRect">
            <a:avLst>
              <a:gd name="adj" fmla="val 3621"/>
            </a:avLst>
          </a:prstGeom>
          <a:solidFill>
            <a:srgbClr val="161B4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9584" y="2451993"/>
            <a:ext cx="475017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director, COUNT(*) AS total_titles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director IS NOT NULL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director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total_titles DESC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32776" y="4668143"/>
            <a:ext cx="5203794" cy="1285280"/>
          </a:xfrm>
          <a:prstGeom prst="roundRect">
            <a:avLst>
              <a:gd name="adj" fmla="val 6177"/>
            </a:avLst>
          </a:prstGeom>
          <a:solidFill>
            <a:srgbClr val="161B4C"/>
          </a:solidFill>
          <a:ln/>
        </p:spPr>
      </p:sp>
      <p:sp>
        <p:nvSpPr>
          <p:cNvPr id="14" name="Text 12"/>
          <p:cNvSpPr/>
          <p:nvPr/>
        </p:nvSpPr>
        <p:spPr>
          <a:xfrm>
            <a:off x="6559584" y="4857155"/>
            <a:ext cx="47501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title, date_added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netflix_titles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YEAR(date_added) &gt;= YEAR(CURDATE()) - 5;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Conclusion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9364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Diverse but Movie-Skewed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549364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Netflix's library spans many countries and genres, but movies significantly outnumber TV shows.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9364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Regional Dominance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549364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and India's leading share highlights key target markets for content investment.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9364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Genre Trends Guide Strategy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549364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Drama and Comedy dominance can inform future acquisition and production decisions.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2026-08-22T13:55:56Z</dcterms:created>
  <dcterms:modified xsi:type="dcterms:W3CDTF">2026-08-22T13:55:56Z</dcterms:modified>
</cp:coreProperties>
</file>